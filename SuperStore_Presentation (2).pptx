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Revenue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48A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08-4477-8779-229AD57413A6}"/>
              </c:ext>
            </c:extLst>
          </c:dPt>
          <c:dPt>
            <c:idx val="1"/>
            <c:invertIfNegative val="0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08-4477-8779-229AD57413A6}"/>
              </c:ext>
            </c:extLst>
          </c:dPt>
          <c:dPt>
            <c:idx val="2"/>
            <c:invertIfNegative val="0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08-4477-8779-229AD57413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40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741999</c:v>
                </c:pt>
                <c:pt idx="2">
                  <c:v>719047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08-4477-8779-229AD57413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Revenue Share by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48A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01-4899-B8FA-9D03842C365E}"/>
              </c:ext>
            </c:extLst>
          </c:dPt>
          <c:dPt>
            <c:idx val="1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01-4899-B8FA-9D03842C365E}"/>
              </c:ext>
            </c:extLst>
          </c:dPt>
          <c:dPt>
            <c:idx val="2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01-4899-B8FA-9D03842C365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01-4899-B8FA-9D03842C365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01-4899-B8FA-9D03842C365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F01-4899-B8FA-9D03842C365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01-4899-B8FA-9D03842C3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Monthly Sales Trend (2014–2017)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ln w="31750" cap="flat">
              <a:solidFill>
                <a:srgbClr val="048A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48A81"/>
              </a:solidFill>
              <a:ln w="9525" cap="flat">
                <a:solidFill>
                  <a:srgbClr val="048A81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Jan-14</c:v>
                </c:pt>
                <c:pt idx="1">
                  <c:v>Apr-14</c:v>
                </c:pt>
                <c:pt idx="2">
                  <c:v>Jul-14</c:v>
                </c:pt>
                <c:pt idx="3">
                  <c:v>Oct-14</c:v>
                </c:pt>
                <c:pt idx="4">
                  <c:v>Jan-15</c:v>
                </c:pt>
                <c:pt idx="5">
                  <c:v>Apr-15</c:v>
                </c:pt>
                <c:pt idx="6">
                  <c:v>Jul-15</c:v>
                </c:pt>
                <c:pt idx="7">
                  <c:v>Oct-15</c:v>
                </c:pt>
                <c:pt idx="8">
                  <c:v>Jan-16</c:v>
                </c:pt>
                <c:pt idx="9">
                  <c:v>Apr-16</c:v>
                </c:pt>
                <c:pt idx="10">
                  <c:v>Jul-16</c:v>
                </c:pt>
                <c:pt idx="11">
                  <c:v>Oct-16</c:v>
                </c:pt>
                <c:pt idx="12">
                  <c:v>Jan-17</c:v>
                </c:pt>
                <c:pt idx="13">
                  <c:v>Apr-17</c:v>
                </c:pt>
                <c:pt idx="14">
                  <c:v>Jul-17</c:v>
                </c:pt>
                <c:pt idx="15">
                  <c:v>Oct-17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14236</c:v>
                </c:pt>
                <c:pt idx="1">
                  <c:v>18900</c:v>
                </c:pt>
                <c:pt idx="2">
                  <c:v>22100</c:v>
                </c:pt>
                <c:pt idx="3">
                  <c:v>41200</c:v>
                </c:pt>
                <c:pt idx="4">
                  <c:v>15600</c:v>
                </c:pt>
                <c:pt idx="5">
                  <c:v>21300</c:v>
                </c:pt>
                <c:pt idx="6">
                  <c:v>25400</c:v>
                </c:pt>
                <c:pt idx="7">
                  <c:v>51800</c:v>
                </c:pt>
                <c:pt idx="8">
                  <c:v>17200</c:v>
                </c:pt>
                <c:pt idx="9">
                  <c:v>24600</c:v>
                </c:pt>
                <c:pt idx="10">
                  <c:v>29800</c:v>
                </c:pt>
                <c:pt idx="11">
                  <c:v>62400</c:v>
                </c:pt>
                <c:pt idx="12">
                  <c:v>19100</c:v>
                </c:pt>
                <c:pt idx="13">
                  <c:v>28700</c:v>
                </c:pt>
                <c:pt idx="14">
                  <c:v>35200</c:v>
                </c:pt>
                <c:pt idx="15">
                  <c:v>78900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0CD-498F-964C-246ADBAD2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2E4057"/>
                </a:solidFill>
                <a:latin typeface="Arial"/>
              </a:rPr>
              <a:t>Revenue by Region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48A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F0-452B-ACF8-E082A0656C7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4F0-452B-ACF8-E082A0656C78}"/>
              </c:ext>
            </c:extLst>
          </c:dPt>
          <c:dPt>
            <c:idx val="2"/>
            <c:invertIfNegative val="0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F0-452B-ACF8-E082A0656C78}"/>
              </c:ext>
            </c:extLst>
          </c:dPt>
          <c:dPt>
            <c:idx val="3"/>
            <c:invertIfNegative val="0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F0-452B-ACF8-E082A0656C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40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F0-452B-ACF8-E082A0656C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Average Profit by Discount Band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048A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EAF-43D3-A0E6-A92DD31A1AC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EAF-43D3-A0E6-A92DD31A1AC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EAF-43D3-A0E6-A92DD31A1AC9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EAF-43D3-A0E6-A92DD31A1AC9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EAF-43D3-A0E6-A92DD31A1AC9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EAF-43D3-A0E6-A92DD31A1A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E40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62.4</c:v>
                </c:pt>
                <c:pt idx="1">
                  <c:v>38.200000000000003</c:v>
                </c:pt>
                <c:pt idx="2">
                  <c:v>18.7</c:v>
                </c:pt>
                <c:pt idx="3">
                  <c:v>-12.3</c:v>
                </c:pt>
                <c:pt idx="4">
                  <c:v>-48.9</c:v>
                </c:pt>
                <c:pt idx="5">
                  <c:v>-91.2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EAF-43D3-A0E6-A92DD31A1A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114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presentation summarises the Super Store Sales Analysis covering 4 years of US retail data. Walk the audience through the agenda on the next slide before diving into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section heading. This is a 10-slide deck covering end-to-end analysis from data inspection through to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no missing values and no duplicates — very clean out of the box. Dates were already in datetime format. Two columns (Row ID, Country) were dropped as analytically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numbers: $2.3M revenue, $286K profit, 12.47% margin. The gap between revenue and profit is partly explained by the discount analysis (Slide 8). Avg order value of $229 is driven upward by high-ticket Technology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 Technology is the star category — top revenue AND top margin. Furniture is the concern: second-highest revenue but only 2.5% margin. Office Supplies punches above its weight on margin efficiency. Action: investigate Furniture's discount and cost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 = biggest by absolute profit. Home Office = best margin efficiency at 14%. Key insight: retention of Consumer segment is critical (50.6% of revenue). Home Office has untapped growth potential despite being the smallest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seasonal pattern: Q4 always spikes. This has direct inventory and staffing implications — the recommendation slide will address this. Central region's low profit despite moderate revenue warrants a dedicated improvement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critical finding: discounts have virtually zero effect on sales (+0.005) but a meaningful negative effect on profit (-0.219). Discounts above 40% consistently produce losses. The bar chart makes this visually obvious — profit turns red at the 30% discount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questions come directly from the project structure requirements. Walk through each quickly — the audience can read. Pause on Q3 (discounts) as it's the most counter-intuitive finding for most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these 6 recommendations. Emphasise that all are grounded directly in the data — not opinion. The most urgent: Recommendation 1 (discount cap) has the fastest path to improved profitability with zero additional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oundRect">
            <a:avLst/>
          </a:prstGeom>
          <a:solidFill>
            <a:srgbClr val="048A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5143500"/>
          </a:xfrm>
          <a:prstGeom prst="round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10058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STORE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480560" y="1783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A6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Data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80560" y="2331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788920"/>
            <a:ext cx="4114800" cy="0"/>
          </a:xfrm>
          <a:prstGeom prst="line">
            <a:avLst/>
          </a:prstGeom>
          <a:noFill/>
          <a:ln w="25400">
            <a:solidFill>
              <a:srgbClr val="048A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44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Analyst: </a:t>
            </a:r>
            <a:r>
              <a:rPr lang="en-US" sz="1100" dirty="0" err="1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Osadebamwen</a:t>
            </a: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Enobakhare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3236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- Superstore  |  9,994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35295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</a:t>
            </a: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2014 – December 2017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8221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</a:t>
            </a: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Pandas · Matplotlib · Seaborn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14630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 ·  Revenue  ·  Insights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52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624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9,994 records · 4 years · 21 variables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0939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Standardisation, date engineering, validation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615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254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· Profit · Orders · Customers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3467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5570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categories, best sellers, low performers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78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2885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· Corporate · Home Office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143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1152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13624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patterns · Quarterly · Regional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8745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1883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0939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profit · Category breakdown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2615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28254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5 key questions with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66360" y="33467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66360" y="35570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data-driven actions for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3657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Attribute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9,994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columns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2014 – Dec 2017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(West, East, Central, South)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(Furniture, Office Supplies, Technology)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Sub-Categories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Segments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(Consumer, Corporate, Home Office)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Customers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Orders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0972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0972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048A81"/>
          </a:solidFill>
          <a:ln/>
        </p:spPr>
      </p:sp>
      <p:sp>
        <p:nvSpPr>
          <p:cNvPr id="10" name="Text 7"/>
          <p:cNvSpPr/>
          <p:nvPr/>
        </p:nvSpPr>
        <p:spPr>
          <a:xfrm>
            <a:off x="5559552" y="1152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Info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59552" y="14264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 · Order Date · Ship Date · Ship Mode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03520" y="20116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0116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2E4057"/>
          </a:solidFill>
          <a:ln/>
        </p:spPr>
      </p:sp>
      <p:sp>
        <p:nvSpPr>
          <p:cNvPr id="14" name="Text 11"/>
          <p:cNvSpPr/>
          <p:nvPr/>
        </p:nvSpPr>
        <p:spPr>
          <a:xfrm>
            <a:off x="5559552" y="2066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Info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59552" y="23408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ID · Name · Segment · City · State · Region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03520" y="29260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9260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5B8DB8"/>
          </a:solidFill>
          <a:ln/>
        </p:spPr>
      </p:sp>
      <p:sp>
        <p:nvSpPr>
          <p:cNvPr id="18" name="Text 15"/>
          <p:cNvSpPr/>
          <p:nvPr/>
        </p:nvSpPr>
        <p:spPr>
          <a:xfrm>
            <a:off x="5559552" y="2980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Info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59552" y="32552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ID · Category · Sub-Category · Product Name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03520" y="38404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8404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5559552" y="3895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59552" y="4169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· Quantity · Discount · Profit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Glance: 4-Year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4-year cumulative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50592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earnings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→ Profit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03136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order IDs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$229.86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74320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50592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50592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450592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50592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buyers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26864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26864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1,850+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26864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PRODUCTS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26864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 sold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03136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803136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3136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coverage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of 12.47% reflects the combined impact of discounting and product mix — key themes explored in this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048A81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83480" y="1444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$836,154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83480" y="1664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17.4%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8836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revenue + best margin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06640" y="1389888"/>
            <a:ext cx="1097280" cy="530352"/>
          </a:xfrm>
          <a:prstGeom prst="roundRect">
            <a:avLst>
              <a:gd name="adj" fmla="val 13793"/>
            </a:avLst>
          </a:prstGeom>
          <a:solidFill>
            <a:srgbClr val="048A81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138988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17.4%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754880" y="2359152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359152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498348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83480" y="27066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$741,999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83480" y="2926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2.5%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83480" y="3145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revenue but critical low margin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06640" y="2651760"/>
            <a:ext cx="1097280" cy="530352"/>
          </a:xfrm>
          <a:prstGeom prst="roundRect">
            <a:avLst>
              <a:gd name="adj" fmla="val 13793"/>
            </a:avLst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7406640" y="26517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2.5%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754880" y="3621024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621024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5B8DB8"/>
          </a:solidFill>
          <a:ln/>
        </p:spPr>
      </p:sp>
      <p:sp>
        <p:nvSpPr>
          <p:cNvPr id="26" name="Text 23"/>
          <p:cNvSpPr/>
          <p:nvPr/>
        </p:nvSpPr>
        <p:spPr>
          <a:xfrm>
            <a:off x="4983480" y="3694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Supplies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83480" y="39684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$719,047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83480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17.0%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83480" y="4407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margin-efficient category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406640" y="3913632"/>
            <a:ext cx="1097280" cy="530352"/>
          </a:xfrm>
          <a:prstGeom prst="roundRect">
            <a:avLst>
              <a:gd name="adj" fmla="val 13793"/>
            </a:avLst>
          </a:prstGeom>
          <a:solidFill>
            <a:srgbClr val="048A81"/>
          </a:solidFill>
          <a:ln/>
        </p:spPr>
      </p:sp>
      <p:sp>
        <p:nvSpPr>
          <p:cNvPr id="31" name="Text 28"/>
          <p:cNvSpPr/>
          <p:nvPr/>
        </p:nvSpPr>
        <p:spPr>
          <a:xfrm>
            <a:off x="7406640" y="39136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097280"/>
            <a:ext cx="40233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97280"/>
            <a:ext cx="4023360" cy="310896"/>
          </a:xfrm>
          <a:prstGeom prst="roundRect">
            <a:avLst>
              <a:gd name="adj" fmla="val 29412"/>
            </a:avLst>
          </a:prstGeom>
          <a:solidFill>
            <a:srgbClr val="048A81"/>
          </a:solidFill>
          <a:ln/>
        </p:spPr>
      </p:sp>
      <p:sp>
        <p:nvSpPr>
          <p:cNvPr id="10" name="Text 7"/>
          <p:cNvSpPr/>
          <p:nvPr/>
        </p:nvSpPr>
        <p:spPr>
          <a:xfrm>
            <a:off x="4773168" y="11338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11338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Share: 50.6%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$1,161,401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42432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$134,119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42432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29984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29984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717536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1753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2395728"/>
            <a:ext cx="40233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2395728"/>
            <a:ext cx="4023360" cy="310896"/>
          </a:xfrm>
          <a:prstGeom prst="roundRect">
            <a:avLst>
              <a:gd name="adj" fmla="val 29412"/>
            </a:avLst>
          </a:prstGeom>
          <a:solidFill>
            <a:srgbClr val="2E4057"/>
          </a:solidFill>
          <a:ln/>
        </p:spPr>
      </p:sp>
      <p:sp>
        <p:nvSpPr>
          <p:cNvPr id="22" name="Text 19"/>
          <p:cNvSpPr/>
          <p:nvPr/>
        </p:nvSpPr>
        <p:spPr>
          <a:xfrm>
            <a:off x="4773168" y="2432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2432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Share: 30.7%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54880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$706,146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54880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42432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$91,979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42432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29984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29984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17536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17536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63440" y="3694176"/>
            <a:ext cx="40233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3694176"/>
            <a:ext cx="4023360" cy="310896"/>
          </a:xfrm>
          <a:prstGeom prst="roundRect">
            <a:avLst>
              <a:gd name="adj" fmla="val 29412"/>
            </a:avLst>
          </a:prstGeom>
          <a:solidFill>
            <a:srgbClr val="5B8DB8"/>
          </a:solidFill>
          <a:ln/>
        </p:spPr>
      </p:sp>
      <p:sp>
        <p:nvSpPr>
          <p:cNvPr id="34" name="Text 31"/>
          <p:cNvSpPr/>
          <p:nvPr/>
        </p:nvSpPr>
        <p:spPr>
          <a:xfrm>
            <a:off x="4773168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Office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0" y="3730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Share: 18.7%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5488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$429,653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754880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742432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$60,299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742432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729984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14.0%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29984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717536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717536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TRENDS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365760" y="3749040"/>
          <a:ext cx="53035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852160" y="1097280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98932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Q4 Dominance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89320" y="142646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is consistently the peak quarter across all 4 years. Year-end budgets and holiday purchasing drive the surge.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852160" y="2084832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89320" y="2139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West Leads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89320" y="24140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region: $725K revenue, $108K profit. The benchmark for operational efficiency.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52160" y="3072384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98932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Central Lags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89320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generates only $39.7K profit on $501K revenue — the lowest margin region. Primary growth target.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852160" y="4059936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989320" y="4114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 YoY Growth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89320" y="4389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year shows higher peak months. 2017 Q4 estimates 60%+ above 2014 Q4 levels.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4937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4937760" cy="1005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Category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Avg Discount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Avg Profit/Order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$79.45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Supplies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8A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$20.39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Furniture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09728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687568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687568" y="1426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vs Sales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87568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48A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+0.005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5687568" y="22311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Near-zero: discounts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 move sales volume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577840" y="310896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FF1F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687568" y="3218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687568" y="34381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vs Profit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687568" y="3730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−0.219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5687568" y="42428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Negative: every % of discount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reduces margin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Key Business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048A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Which category drives the most value?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leads in both revenue ($836K) and margin (17.4%). It is the highest-priority category for investment.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2E405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50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Which segment is most profitable?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generates the most absolute profit ($134K, 50.6% share). Home Office has the highest margin efficiency (14.0%).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4904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764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Do discounts drive sales?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07822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Correlation of +0.005 vs Sales, but −0.219 vs Profit. Discounts above 40% produce consistent losses.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5B8DB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124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Q4: Which products need marketing attention?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142646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products each generated under $20 over 4 years. Review for discontinuation or targeted repositioning.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2316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50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Q5: Which regions need growth focus?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75234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region: 21.8% revenue share but disproportionately low profit. Primary geographic growth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Data-Driven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Restructure Discount Strategy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all discounts at 20%. Discounts above 40% produce losses. Use volume-based incentives instead.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14300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280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801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 Technology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2203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inventory &amp; marketing for Phones and Copiers — the highest-margin sub-categories.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25896" y="114300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280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801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Loyalty Programme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63056" y="2203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= 50.6% of revenue. Reward points and personalised offers will improve retention.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6758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Central Region Operations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review of Central pricing and discount frequency. Localised campaigns to grow share.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72968" y="301752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6758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Product Review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0128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Discontinue or reposition bottom-10 products. Free up capital and reduce carrying costs.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25896" y="301752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34" name="Text 32"/>
          <p:cNvSpPr/>
          <p:nvPr/>
        </p:nvSpPr>
        <p:spPr>
          <a:xfrm>
            <a:off x="6163056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63056" y="36758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Q4 Planning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63056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inventory from September each year. Pre-negotiate supplier volumes to meet peak demand.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1283</Words>
  <Application>Microsoft Office PowerPoint</Application>
  <PresentationFormat>On-screen Show (16:9)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Store Sales Analysis</dc:title>
  <dc:subject>PptxGenJS Presentation</dc:subject>
  <dc:creator>Osadeba Enobakhare</dc:creator>
  <cp:lastModifiedBy>OSADEBAMWEN ENOBAKHARE</cp:lastModifiedBy>
  <cp:revision>2</cp:revision>
  <dcterms:created xsi:type="dcterms:W3CDTF">2026-06-21T21:14:40Z</dcterms:created>
  <dcterms:modified xsi:type="dcterms:W3CDTF">2026-06-22T22:13:12Z</dcterms:modified>
</cp:coreProperties>
</file>